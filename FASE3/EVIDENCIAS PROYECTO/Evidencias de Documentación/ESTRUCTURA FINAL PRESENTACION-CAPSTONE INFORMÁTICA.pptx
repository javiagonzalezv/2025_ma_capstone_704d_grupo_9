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11309350" cx="20104100"/>
  <p:notesSz cx="20104100" cy="11309350"/>
  <p:embeddedFontLst>
    <p:embeddedFont>
      <p:font typeface="Arial Black"/>
      <p:regular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40" roundtripDataSignature="AMtx7mjdaF0ojW5TSJOn3P+4X5zJUszC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ArialBlack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1387138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6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9aedff59c_0_28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9aedff59c_0_28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99aedff59c_0_28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005102e78_0_0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7005102e78_0_0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7005102e78_0_0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005102e78_0_8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005102e78_0_8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7005102e78_0_8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9aedff59c_0_17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99aedff59c_0_17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99aedff59c_0_17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9aedff59c_0_0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9aedff59c_0_0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99aedff59c_0_0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9aedff59c_0_6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99aedff59c_0_6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99aedff59c_0_6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2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005102e78_2_6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005102e78_2_6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7005102e78_2_6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7005102e78_2_11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7005102e78_2_11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7005102e78_2_11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7005102e78_2_35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7005102e78_2_35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7005102e78_2_35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7005102e78_2_21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7005102e78_2_21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7005102e78_2_21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005102e78_2_26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7005102e78_2_26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7005102e78_2_26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13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14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7005102e78_2_49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7005102e78_2_49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7005102e78_2_49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15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16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7005102e78_2_55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7005102e78_2_55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7005102e78_2_55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99aedff59c_0_11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99aedff59c_0_11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99aedff59c_0_11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7367810f2be5ba91_0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7367810f2be5ba91_0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7367810f2be5ba91_0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1187e7452_0_2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a1187e7452_0_2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a1187e7452_0_2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a1187e7452_0_7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a1187e7452_0_7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a1187e7452_0_7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1187e7452_0_12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a1187e7452_0_12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a1187e7452_0_12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a1187e7452_0_20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a1187e7452_0_20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a1187e7452_0_20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jp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title"/>
          </p:nvPr>
        </p:nvSpPr>
        <p:spPr>
          <a:xfrm>
            <a:off x="2432050" y="714594"/>
            <a:ext cx="1698826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/>
          <p:nvPr/>
        </p:nvSpPr>
        <p:spPr>
          <a:xfrm>
            <a:off x="-6350" y="656116"/>
            <a:ext cx="2243455" cy="1060450"/>
          </a:xfrm>
          <a:custGeom>
            <a:rect b="b" l="l" r="r" t="t"/>
            <a:pathLst>
              <a:path extrusionOk="0" h="1060450" w="2243455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8"/>
          <p:cNvSpPr/>
          <p:nvPr/>
        </p:nvSpPr>
        <p:spPr>
          <a:xfrm>
            <a:off x="16938421" y="10202309"/>
            <a:ext cx="1576070" cy="511175"/>
          </a:xfrm>
          <a:custGeom>
            <a:rect b="b" l="l" r="r" t="t"/>
            <a:pathLst>
              <a:path extrusionOk="0" h="511175" w="1576069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34" y="299389"/>
                </a:lnTo>
                <a:lnTo>
                  <a:pt x="300723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07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588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38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59" y="484936"/>
                </a:lnTo>
                <a:lnTo>
                  <a:pt x="324205" y="466864"/>
                </a:lnTo>
                <a:lnTo>
                  <a:pt x="359016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extrusionOk="0" h="511175" w="1576069">
                <a:moveTo>
                  <a:pt x="827582" y="502602"/>
                </a:moveTo>
                <a:lnTo>
                  <a:pt x="826490" y="478307"/>
                </a:lnTo>
                <a:lnTo>
                  <a:pt x="825538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28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extrusionOk="0" h="511175" w="1576069">
                <a:moveTo>
                  <a:pt x="1244155" y="318274"/>
                </a:moveTo>
                <a:lnTo>
                  <a:pt x="1238161" y="266484"/>
                </a:lnTo>
                <a:lnTo>
                  <a:pt x="1220876" y="221424"/>
                </a:lnTo>
                <a:lnTo>
                  <a:pt x="1193355" y="184315"/>
                </a:lnTo>
                <a:lnTo>
                  <a:pt x="1156639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39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46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37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395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35" y="461340"/>
                </a:lnTo>
                <a:lnTo>
                  <a:pt x="957567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896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extrusionOk="0" h="511175" w="1576069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44" y="133451"/>
                </a:lnTo>
                <a:lnTo>
                  <a:pt x="1489964" y="132499"/>
                </a:lnTo>
                <a:lnTo>
                  <a:pt x="1436065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82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8"/>
          <p:cNvSpPr/>
          <p:nvPr/>
        </p:nvSpPr>
        <p:spPr>
          <a:xfrm>
            <a:off x="18623540" y="10245307"/>
            <a:ext cx="378460" cy="469900"/>
          </a:xfrm>
          <a:custGeom>
            <a:rect b="b" l="l" r="r" t="t"/>
            <a:pathLst>
              <a:path extrusionOk="0" h="469900" w="378459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" name="Google Shape;20;p18"/>
          <p:cNvGrpSpPr/>
          <p:nvPr/>
        </p:nvGrpSpPr>
        <p:grpSpPr>
          <a:xfrm>
            <a:off x="19053919" y="10117702"/>
            <a:ext cx="427015" cy="597582"/>
            <a:chOff x="19053919" y="10117702"/>
            <a:chExt cx="427015" cy="597582"/>
          </a:xfrm>
        </p:grpSpPr>
        <p:sp>
          <p:nvSpPr>
            <p:cNvPr id="21" name="Google Shape;21;p18"/>
            <p:cNvSpPr/>
            <p:nvPr/>
          </p:nvSpPr>
          <p:spPr>
            <a:xfrm>
              <a:off x="19053919" y="10237764"/>
              <a:ext cx="366395" cy="477520"/>
            </a:xfrm>
            <a:custGeom>
              <a:rect b="b" l="l" r="r" t="t"/>
              <a:pathLst>
                <a:path extrusionOk="0" h="477520" w="366394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" name="Google Shape;22;p1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9368634" y="10117702"/>
              <a:ext cx="112300" cy="11226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96"/>
            <a:ext cx="20104810" cy="1130895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9"/>
          <p:cNvSpPr txBox="1"/>
          <p:nvPr>
            <p:ph type="ctrTitle"/>
          </p:nvPr>
        </p:nvSpPr>
        <p:spPr>
          <a:xfrm>
            <a:off x="2838209" y="8700548"/>
            <a:ext cx="67818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" type="subTitle"/>
          </p:nvPr>
        </p:nvSpPr>
        <p:spPr>
          <a:xfrm>
            <a:off x="2838209" y="9612314"/>
            <a:ext cx="87126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/>
          <p:nvPr/>
        </p:nvSpPr>
        <p:spPr>
          <a:xfrm>
            <a:off x="2838209" y="9464675"/>
            <a:ext cx="8841105" cy="0"/>
          </a:xfrm>
          <a:custGeom>
            <a:rect b="b" l="l" r="r" t="t"/>
            <a:pathLst>
              <a:path extrusionOk="0" h="120000" w="8841105">
                <a:moveTo>
                  <a:pt x="0" y="0"/>
                </a:moveTo>
                <a:lnTo>
                  <a:pt x="8840652" y="0"/>
                </a:lnTo>
              </a:path>
            </a:pathLst>
          </a:custGeom>
          <a:noFill/>
          <a:ln cap="flat" cmpd="sng" w="104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62" y="0"/>
            <a:ext cx="2009737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0"/>
          <p:cNvSpPr txBox="1"/>
          <p:nvPr>
            <p:ph type="title"/>
          </p:nvPr>
        </p:nvSpPr>
        <p:spPr>
          <a:xfrm>
            <a:off x="6851650" y="7483475"/>
            <a:ext cx="9782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62" y="0"/>
            <a:ext cx="2009737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1"/>
          <p:cNvSpPr txBox="1"/>
          <p:nvPr>
            <p:ph type="title"/>
          </p:nvPr>
        </p:nvSpPr>
        <p:spPr>
          <a:xfrm>
            <a:off x="4794250" y="6950075"/>
            <a:ext cx="9782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96"/>
            <a:ext cx="20104810" cy="1130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340"/>
            <a:ext cx="20109342" cy="11305614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2"/>
          <p:cNvSpPr/>
          <p:nvPr/>
        </p:nvSpPr>
        <p:spPr>
          <a:xfrm>
            <a:off x="755650" y="6264275"/>
            <a:ext cx="9892434" cy="2286000"/>
          </a:xfrm>
          <a:prstGeom prst="rect">
            <a:avLst/>
          </a:prstGeom>
          <a:solidFill>
            <a:schemeClr val="dk1">
              <a:alpha val="5843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2"/>
          <p:cNvSpPr txBox="1"/>
          <p:nvPr>
            <p:ph type="title"/>
          </p:nvPr>
        </p:nvSpPr>
        <p:spPr>
          <a:xfrm>
            <a:off x="1184428" y="6591401"/>
            <a:ext cx="9020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0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3"/>
          <p:cNvSpPr/>
          <p:nvPr/>
        </p:nvSpPr>
        <p:spPr>
          <a:xfrm>
            <a:off x="727227" y="10202309"/>
            <a:ext cx="1576070" cy="511175"/>
          </a:xfrm>
          <a:custGeom>
            <a:rect b="b" l="l" r="r" t="t"/>
            <a:pathLst>
              <a:path extrusionOk="0" h="511175" w="1576070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47" y="299389"/>
                </a:lnTo>
                <a:lnTo>
                  <a:pt x="300736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19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601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50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71" y="484936"/>
                </a:lnTo>
                <a:lnTo>
                  <a:pt x="324205" y="466864"/>
                </a:lnTo>
                <a:lnTo>
                  <a:pt x="359029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extrusionOk="0" h="511175" w="1576070">
                <a:moveTo>
                  <a:pt x="827582" y="502602"/>
                </a:moveTo>
                <a:lnTo>
                  <a:pt x="826503" y="478307"/>
                </a:lnTo>
                <a:lnTo>
                  <a:pt x="825550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41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extrusionOk="0" h="511175" w="1576070">
                <a:moveTo>
                  <a:pt x="1244155" y="318274"/>
                </a:moveTo>
                <a:lnTo>
                  <a:pt x="1238161" y="266484"/>
                </a:lnTo>
                <a:lnTo>
                  <a:pt x="1220889" y="221424"/>
                </a:lnTo>
                <a:lnTo>
                  <a:pt x="1193355" y="184315"/>
                </a:lnTo>
                <a:lnTo>
                  <a:pt x="1156652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52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59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49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408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48" y="461340"/>
                </a:lnTo>
                <a:lnTo>
                  <a:pt x="957580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909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extrusionOk="0" h="511175" w="1576070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57" y="133451"/>
                </a:lnTo>
                <a:lnTo>
                  <a:pt x="1489964" y="132499"/>
                </a:lnTo>
                <a:lnTo>
                  <a:pt x="1436077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94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3"/>
          <p:cNvSpPr/>
          <p:nvPr/>
        </p:nvSpPr>
        <p:spPr>
          <a:xfrm>
            <a:off x="2412348" y="10245307"/>
            <a:ext cx="378460" cy="469900"/>
          </a:xfrm>
          <a:custGeom>
            <a:rect b="b" l="l" r="r" t="t"/>
            <a:pathLst>
              <a:path extrusionOk="0" h="469900" w="37846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23"/>
          <p:cNvGrpSpPr/>
          <p:nvPr/>
        </p:nvGrpSpPr>
        <p:grpSpPr>
          <a:xfrm>
            <a:off x="2842727" y="10117702"/>
            <a:ext cx="427015" cy="597582"/>
            <a:chOff x="2842727" y="10117702"/>
            <a:chExt cx="427015" cy="597582"/>
          </a:xfrm>
        </p:grpSpPr>
        <p:sp>
          <p:nvSpPr>
            <p:cNvPr id="43" name="Google Shape;43;p23"/>
            <p:cNvSpPr/>
            <p:nvPr/>
          </p:nvSpPr>
          <p:spPr>
            <a:xfrm>
              <a:off x="2842727" y="10237764"/>
              <a:ext cx="366395" cy="477520"/>
            </a:xfrm>
            <a:custGeom>
              <a:rect b="b" l="l" r="r" t="t"/>
              <a:pathLst>
                <a:path extrusionOk="0" h="477520" w="366394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4" name="Google Shape;44;p2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157442" y="10117702"/>
              <a:ext cx="112300" cy="1122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" name="Google Shape;45;p23"/>
          <p:cNvSpPr/>
          <p:nvPr/>
        </p:nvSpPr>
        <p:spPr>
          <a:xfrm>
            <a:off x="17840597" y="656116"/>
            <a:ext cx="2243455" cy="1060450"/>
          </a:xfrm>
          <a:custGeom>
            <a:rect b="b" l="l" r="r" t="t"/>
            <a:pathLst>
              <a:path extrusionOk="0" h="1060450" w="2243455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3"/>
          <p:cNvSpPr txBox="1"/>
          <p:nvPr>
            <p:ph idx="1" type="body"/>
          </p:nvPr>
        </p:nvSpPr>
        <p:spPr>
          <a:xfrm>
            <a:off x="727227" y="755454"/>
            <a:ext cx="1679242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Diseño personalizado">
  <p:cSld name="5_Diseño personalizado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3340"/>
            <a:ext cx="20110047" cy="1130601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4"/>
          <p:cNvSpPr txBox="1"/>
          <p:nvPr>
            <p:ph type="title"/>
          </p:nvPr>
        </p:nvSpPr>
        <p:spPr>
          <a:xfrm>
            <a:off x="831850" y="7178675"/>
            <a:ext cx="9782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Diseño personalizado">
  <p:cSld name="6_Diseño personalizado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96"/>
            <a:ext cx="20104810" cy="1130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2" y="0"/>
            <a:ext cx="2009737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5"/>
          <p:cNvSpPr/>
          <p:nvPr/>
        </p:nvSpPr>
        <p:spPr>
          <a:xfrm>
            <a:off x="7232650" y="7880350"/>
            <a:ext cx="9892434" cy="2286000"/>
          </a:xfrm>
          <a:prstGeom prst="rect">
            <a:avLst/>
          </a:prstGeom>
          <a:solidFill>
            <a:schemeClr val="dk1">
              <a:alpha val="5843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5"/>
          <p:cNvSpPr txBox="1"/>
          <p:nvPr>
            <p:ph type="title"/>
          </p:nvPr>
        </p:nvSpPr>
        <p:spPr>
          <a:xfrm>
            <a:off x="7661428" y="8207476"/>
            <a:ext cx="9020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0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Diseño personalizado">
  <p:cSld name="4_Diseño personalizado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96"/>
            <a:ext cx="20104810" cy="1130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2" y="0"/>
            <a:ext cx="2009737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6"/>
          <p:cNvSpPr/>
          <p:nvPr/>
        </p:nvSpPr>
        <p:spPr>
          <a:xfrm>
            <a:off x="4413250" y="4206875"/>
            <a:ext cx="9892434" cy="2286000"/>
          </a:xfrm>
          <a:prstGeom prst="rect">
            <a:avLst/>
          </a:prstGeom>
          <a:solidFill>
            <a:schemeClr val="dk1">
              <a:alpha val="5843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6"/>
          <p:cNvSpPr txBox="1"/>
          <p:nvPr>
            <p:ph type="title"/>
          </p:nvPr>
        </p:nvSpPr>
        <p:spPr>
          <a:xfrm>
            <a:off x="4842028" y="4534001"/>
            <a:ext cx="9020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0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96"/>
            <a:ext cx="20104810" cy="1130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2" y="0"/>
            <a:ext cx="2009737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7"/>
          <p:cNvSpPr/>
          <p:nvPr/>
        </p:nvSpPr>
        <p:spPr>
          <a:xfrm>
            <a:off x="7004050" y="7331075"/>
            <a:ext cx="9892434" cy="2286000"/>
          </a:xfrm>
          <a:prstGeom prst="rect">
            <a:avLst/>
          </a:prstGeom>
          <a:solidFill>
            <a:schemeClr val="dk1">
              <a:alpha val="5843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7"/>
          <p:cNvSpPr txBox="1"/>
          <p:nvPr>
            <p:ph type="title"/>
          </p:nvPr>
        </p:nvSpPr>
        <p:spPr>
          <a:xfrm>
            <a:off x="7432828" y="7658201"/>
            <a:ext cx="9020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0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Diseño personalizado">
  <p:cSld name="3_Diseño personalizado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62" y="0"/>
            <a:ext cx="2009737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8"/>
          <p:cNvSpPr txBox="1"/>
          <p:nvPr>
            <p:ph type="title"/>
          </p:nvPr>
        </p:nvSpPr>
        <p:spPr>
          <a:xfrm>
            <a:off x="6623050" y="7026275"/>
            <a:ext cx="9782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3_Title 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12314421" y="714594"/>
            <a:ext cx="5259705" cy="915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5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ccs.cl/2025/06/04/comercio-electronico-retoma-niveles-del-boom-2021-2022-25-billones-en-primer-cuatrimestre-de-este-ano/" TargetMode="External"/><Relationship Id="rId4" Type="http://schemas.openxmlformats.org/officeDocument/2006/relationships/hyperlink" Target="https://marketing4ecommerce.cl/el-ecommerce-chileno-crecera-2026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bcentral.cl/w/el-crecimiento-del-comercio-electronico-en-chile" TargetMode="External"/><Relationship Id="rId4" Type="http://schemas.openxmlformats.org/officeDocument/2006/relationships/hyperlink" Target="https://www.ccs.cl/ecommerce/ecommerce-en-chile-2025-ventas-digitales-recuperan-niveles-historicos-con-mas-de-25-billones-en-el-primer-cuatrimestre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Relationship Id="rId5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Relationship Id="rId4" Type="http://schemas.openxmlformats.org/officeDocument/2006/relationships/hyperlink" Target="https://docs.google.com/spreadsheets/d/1qePrE_Kzg8LD-lVe0Kq9IF5hjWvSYGQr2qZrMg36SJE/edit?gid=1415582702#gid=1415582702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Relationship Id="rId4" Type="http://schemas.openxmlformats.org/officeDocument/2006/relationships/hyperlink" Target="https://docs.google.com/spreadsheets/d/1AWZ5WSeCTNWBWKSVNj7j_8SfVfjcBopZ/edit?gid=1444610832#gid=1444610832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docs.google.com/spreadsheets/d/1sTgpIoTj0jSHGGUp_5B5SmrD7uapa6uq/edit?gid=1845753831#gid=1845753831" TargetMode="External"/><Relationship Id="rId4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github.com/Javiagonzalezv/2025_MA_CAPSTONE_704D_GRUPO_9" TargetMode="External"/><Relationship Id="rId4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drive.google.com/drive/u/1/folders/1lI_O87Q8vKcfLA7Gy47fLnOBM4qBHv4X" TargetMode="External"/><Relationship Id="rId4" Type="http://schemas.openxmlformats.org/officeDocument/2006/relationships/hyperlink" Target="http://drive.google.com/file/d/13KrGL9cdP5g7q9J-Rfd87c3MnjRpoAZg/view" TargetMode="External"/><Relationship Id="rId5" Type="http://schemas.openxmlformats.org/officeDocument/2006/relationships/image" Target="../media/image28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 txBox="1"/>
          <p:nvPr>
            <p:ph type="ctrTitle"/>
          </p:nvPr>
        </p:nvSpPr>
        <p:spPr>
          <a:xfrm>
            <a:off x="3308349" y="8626475"/>
            <a:ext cx="87495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4800"/>
              <a:t>Dalmacia</a:t>
            </a:r>
            <a:endParaRPr sz="4800"/>
          </a:p>
        </p:txBody>
      </p:sp>
      <p:sp>
        <p:nvSpPr>
          <p:cNvPr id="75" name="Google Shape;75;p3"/>
          <p:cNvSpPr txBox="1"/>
          <p:nvPr>
            <p:ph idx="1" type="subTitle"/>
          </p:nvPr>
        </p:nvSpPr>
        <p:spPr>
          <a:xfrm>
            <a:off x="3727450" y="9617075"/>
            <a:ext cx="79113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s-CL"/>
              <a:t>Javier Gonzale,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CL" sz="2400">
                <a:latin typeface="Arial"/>
                <a:ea typeface="Arial"/>
                <a:cs typeface="Arial"/>
                <a:sym typeface="Arial"/>
              </a:rPr>
              <a:t>				Maipú, </a:t>
            </a:r>
            <a:r>
              <a:rPr b="1" lang="es-CL"/>
              <a:t>11</a:t>
            </a:r>
            <a:r>
              <a:rPr b="1" lang="es-CL" sz="2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-CL"/>
              <a:t>noviembre</a:t>
            </a:r>
            <a:r>
              <a:rPr b="1" lang="es-CL" sz="2400">
                <a:latin typeface="Arial"/>
                <a:ea typeface="Arial"/>
                <a:cs typeface="Arial"/>
                <a:sym typeface="Arial"/>
              </a:rPr>
              <a:t> 202</a:t>
            </a:r>
            <a:r>
              <a:rPr b="1" lang="es-CL"/>
              <a:t>5</a:t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14014450" y="3444875"/>
            <a:ext cx="488787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/>
          <p:nvPr/>
        </p:nvSpPr>
        <p:spPr>
          <a:xfrm>
            <a:off x="9518650" y="2378075"/>
            <a:ext cx="535755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CONTENIDO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9518650" y="4020489"/>
            <a:ext cx="10668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9617262" y="7026177"/>
            <a:ext cx="457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s-CL" sz="3000">
                <a:solidFill>
                  <a:schemeClr val="dk1"/>
                </a:solidFill>
              </a:rPr>
              <a:t>OBJETIVOS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12825218" y="4842377"/>
            <a:ext cx="472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s-CL" sz="3000">
                <a:solidFill>
                  <a:schemeClr val="dk1"/>
                </a:solidFill>
              </a:rPr>
              <a:t>PROPUESTA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9518650" y="6264175"/>
            <a:ext cx="106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13003949" y="4106739"/>
            <a:ext cx="106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9617262" y="9194781"/>
            <a:ext cx="416597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s-CL" sz="3000">
                <a:solidFill>
                  <a:schemeClr val="dk1"/>
                </a:solidFill>
              </a:rPr>
              <a:t>METODOLOGÍA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12832315" y="7086065"/>
            <a:ext cx="418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s-CL" sz="3000">
                <a:solidFill>
                  <a:schemeClr val="dk1"/>
                </a:solidFill>
              </a:rPr>
              <a:t>TECNOLOGÍAS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 txBox="1"/>
          <p:nvPr/>
        </p:nvSpPr>
        <p:spPr>
          <a:xfrm>
            <a:off x="9617262" y="8432781"/>
            <a:ext cx="10668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13003949" y="6350427"/>
            <a:ext cx="106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9617262" y="4782488"/>
            <a:ext cx="457909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s-CL" sz="3000">
                <a:solidFill>
                  <a:schemeClr val="dk1"/>
                </a:solidFill>
              </a:rPr>
              <a:t>CONTEXTO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 txBox="1"/>
          <p:nvPr/>
        </p:nvSpPr>
        <p:spPr>
          <a:xfrm>
            <a:off x="12832315" y="9168423"/>
            <a:ext cx="418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000">
                <a:solidFill>
                  <a:schemeClr val="dk1"/>
                </a:solidFill>
              </a:rPr>
              <a:t>ETAPAS</a:t>
            </a:r>
            <a:endParaRPr/>
          </a:p>
        </p:txBody>
      </p:sp>
      <p:sp>
        <p:nvSpPr>
          <p:cNvPr id="93" name="Google Shape;93;p4"/>
          <p:cNvSpPr txBox="1"/>
          <p:nvPr/>
        </p:nvSpPr>
        <p:spPr>
          <a:xfrm>
            <a:off x="13003949" y="8432785"/>
            <a:ext cx="106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16603093" y="4756127"/>
            <a:ext cx="472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s-CL" sz="3000">
                <a:solidFill>
                  <a:schemeClr val="dk1"/>
                </a:solidFill>
              </a:rPr>
              <a:t>SOLUCION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16487299" y="3994127"/>
            <a:ext cx="106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s-CL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16610190" y="6999815"/>
            <a:ext cx="418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s-CL" sz="3000">
                <a:solidFill>
                  <a:schemeClr val="dk1"/>
                </a:solidFill>
              </a:rPr>
              <a:t>RETROSPECTIVA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16487299" y="6237814"/>
            <a:ext cx="106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s-CL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 txBox="1"/>
          <p:nvPr>
            <p:ph type="title"/>
          </p:nvPr>
        </p:nvSpPr>
        <p:spPr>
          <a:xfrm>
            <a:off x="4413250" y="7559675"/>
            <a:ext cx="10134600" cy="10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6600"/>
              <a:t>CONTEXTO</a:t>
            </a:r>
            <a:endParaRPr/>
          </a:p>
        </p:txBody>
      </p:sp>
      <p:sp>
        <p:nvSpPr>
          <p:cNvPr id="103" name="Google Shape;103;p5"/>
          <p:cNvSpPr txBox="1"/>
          <p:nvPr/>
        </p:nvSpPr>
        <p:spPr>
          <a:xfrm>
            <a:off x="12677531" y="6082347"/>
            <a:ext cx="19050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s-CL" sz="96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 txBox="1"/>
          <p:nvPr>
            <p:ph type="title"/>
          </p:nvPr>
        </p:nvSpPr>
        <p:spPr>
          <a:xfrm>
            <a:off x="2432050" y="714594"/>
            <a:ext cx="1698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DALMACIA</a:t>
            </a:r>
            <a:endParaRPr/>
          </a:p>
        </p:txBody>
      </p:sp>
      <p:sp>
        <p:nvSpPr>
          <p:cNvPr id="109" name="Google Shape;109;p6"/>
          <p:cNvSpPr txBox="1"/>
          <p:nvPr/>
        </p:nvSpPr>
        <p:spPr>
          <a:xfrm>
            <a:off x="1057085" y="2170793"/>
            <a:ext cx="97176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Dalmacia es una 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ferretería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 local que depende 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únicamente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 de la venta presencial, limitando su capacidad de crecimiento. Por lo tanto para destacar sobre sus competidores, busca expandirse al mercado digital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Para lograrlo, nuestro equipo 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desarrollará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implementará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  un portal web que permita digitalizar los procesos de venta, ofreciendo una experiencia moderna a los clientes.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9aedff59c_0_28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EARLY ADOPTED</a:t>
            </a:r>
            <a:endParaRPr/>
          </a:p>
        </p:txBody>
      </p:sp>
      <p:sp>
        <p:nvSpPr>
          <p:cNvPr id="116" name="Google Shape;116;g399aedff59c_0_28"/>
          <p:cNvSpPr txBox="1"/>
          <p:nvPr/>
        </p:nvSpPr>
        <p:spPr>
          <a:xfrm>
            <a:off x="2086850" y="3041250"/>
            <a:ext cx="12706200" cy="6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>
                <a:solidFill>
                  <a:schemeClr val="dk1"/>
                </a:solidFill>
              </a:rPr>
              <a:t>El cliente objetivo o </a:t>
            </a:r>
            <a:r>
              <a:rPr i="1" lang="es-CL" sz="3000">
                <a:solidFill>
                  <a:schemeClr val="dk1"/>
                </a:solidFill>
              </a:rPr>
              <a:t>early adopter</a:t>
            </a:r>
            <a:r>
              <a:rPr lang="es-CL" sz="3000">
                <a:solidFill>
                  <a:schemeClr val="dk1"/>
                </a:solidFill>
              </a:rPr>
              <a:t> corresponde a personas de entre 25 y 50 años, que buscan rapidez y comodidad a la hora de realizar compras.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000">
                <a:solidFill>
                  <a:schemeClr val="dk1"/>
                </a:solidFill>
              </a:rPr>
              <a:t>DATOS DE MERCADO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s-CL" sz="3000">
                <a:solidFill>
                  <a:schemeClr val="dk1"/>
                </a:solidFill>
              </a:rPr>
              <a:t>Los materiales de construccion son de las categorias con mas ventas este 2025 </a:t>
            </a:r>
            <a:r>
              <a:rPr lang="es-CL" sz="3000">
                <a:solidFill>
                  <a:schemeClr val="dk1"/>
                </a:solidFill>
              </a:rPr>
              <a:t>según</a:t>
            </a:r>
            <a:r>
              <a:rPr lang="es-CL" sz="3000">
                <a:solidFill>
                  <a:schemeClr val="dk1"/>
                </a:solidFill>
              </a:rPr>
              <a:t> la CCS.</a:t>
            </a:r>
            <a:endParaRPr sz="3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 u="sng">
                <a:solidFill>
                  <a:schemeClr val="hlink"/>
                </a:solidFill>
                <a:hlinkClick r:id="rId3"/>
              </a:rPr>
              <a:t>https://www.ccs.cl/2025/06/04/comercio-electronico-retoma-niveles-del-boom-2021-2022-25-billones-en-primer-cuatrimestre-de-este-ano/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s-CL" sz="3000">
                <a:solidFill>
                  <a:schemeClr val="dk1"/>
                </a:solidFill>
              </a:rPr>
              <a:t>Según</a:t>
            </a:r>
            <a:r>
              <a:rPr lang="es-CL" sz="3000">
                <a:solidFill>
                  <a:schemeClr val="dk1"/>
                </a:solidFill>
              </a:rPr>
              <a:t> la CCS el 50% de los usuarios digitales son </a:t>
            </a:r>
            <a:r>
              <a:rPr lang="es-CL" sz="3000">
                <a:solidFill>
                  <a:schemeClr val="dk1"/>
                </a:solidFill>
              </a:rPr>
              <a:t>también</a:t>
            </a:r>
            <a:r>
              <a:rPr lang="es-CL" sz="3000">
                <a:solidFill>
                  <a:schemeClr val="dk1"/>
                </a:solidFill>
              </a:rPr>
              <a:t> compradores en linea.</a:t>
            </a:r>
            <a:endParaRPr sz="3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 u="sng">
                <a:solidFill>
                  <a:schemeClr val="hlink"/>
                </a:solidFill>
                <a:hlinkClick r:id="rId4"/>
              </a:rPr>
              <a:t>https://marketing4ecommerce.cl/el-ecommerce-chileno-crecera-2026/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005102e78_0_0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ANÁLISIS</a:t>
            </a:r>
            <a:r>
              <a:rPr lang="es-CL"/>
              <a:t> DE MERCADO</a:t>
            </a:r>
            <a:endParaRPr/>
          </a:p>
        </p:txBody>
      </p:sp>
      <p:sp>
        <p:nvSpPr>
          <p:cNvPr id="123" name="Google Shape;123;g37005102e78_0_0"/>
          <p:cNvSpPr txBox="1"/>
          <p:nvPr/>
        </p:nvSpPr>
        <p:spPr>
          <a:xfrm>
            <a:off x="1354775" y="2326675"/>
            <a:ext cx="13463400" cy="51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Según el banco central, las ventas de comercio electrónico alcanza un 12.5% en la venta minorista en 2024.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https://www.bcentral.cl/w/el-crecimiento-del-comercio-electronico-en-chile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Y la CCS proyecta un aumento del 10% para este 2025, por lo que tener un portal web aporta un gran beneficio a la empresa.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https://www.ccs.cl/ecommerce/ecommerce-en-chile-2025-ventas-digitales-recuperan-niveles-historicos-con-mas-de-25-billones-en-el-primer-cuatrimestre/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005102e78_0_8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Modelo Canvas</a:t>
            </a:r>
            <a:endParaRPr/>
          </a:p>
        </p:txBody>
      </p:sp>
      <p:pic>
        <p:nvPicPr>
          <p:cNvPr id="130" name="Google Shape;130;g37005102e78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1300" y="1823446"/>
            <a:ext cx="16281499" cy="804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>
            <p:ph type="title"/>
          </p:nvPr>
        </p:nvSpPr>
        <p:spPr>
          <a:xfrm>
            <a:off x="8147050" y="7712075"/>
            <a:ext cx="83058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4800"/>
              <a:t>TÍTULO</a:t>
            </a:r>
            <a:endParaRPr/>
          </a:p>
        </p:txBody>
      </p:sp>
      <p:sp>
        <p:nvSpPr>
          <p:cNvPr id="136" name="Google Shape;136;p7"/>
          <p:cNvSpPr txBox="1"/>
          <p:nvPr/>
        </p:nvSpPr>
        <p:spPr>
          <a:xfrm>
            <a:off x="8159750" y="6250622"/>
            <a:ext cx="19050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s-CL" sz="9600" u="none" cap="none" strike="noStrike">
                <a:solidFill>
                  <a:srgbClr val="257CE1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7"/>
          <p:cNvSpPr txBox="1"/>
          <p:nvPr/>
        </p:nvSpPr>
        <p:spPr>
          <a:xfrm>
            <a:off x="1517650" y="7712075"/>
            <a:ext cx="83058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s-CL" sz="4800">
                <a:solidFill>
                  <a:srgbClr val="257CE1"/>
                </a:solidFill>
              </a:rPr>
              <a:t>OBJETIVOS</a:t>
            </a:r>
            <a:endParaRPr b="1" i="0" sz="4800" u="none" cap="none" strike="noStrike">
              <a:solidFill>
                <a:srgbClr val="257CE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OBJETI</a:t>
            </a:r>
            <a:r>
              <a:rPr lang="es-CL"/>
              <a:t>VOS </a:t>
            </a:r>
            <a:endParaRPr/>
          </a:p>
        </p:txBody>
      </p:sp>
      <p:sp>
        <p:nvSpPr>
          <p:cNvPr id="143" name="Google Shape;143;p8"/>
          <p:cNvSpPr txBox="1"/>
          <p:nvPr/>
        </p:nvSpPr>
        <p:spPr>
          <a:xfrm>
            <a:off x="1178050" y="2297200"/>
            <a:ext cx="8158200" cy="25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Objetivo General: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3000">
                <a:solidFill>
                  <a:srgbClr val="548DD4"/>
                </a:solidFill>
                <a:latin typeface="Calibri"/>
                <a:ea typeface="Calibri"/>
                <a:cs typeface="Calibri"/>
                <a:sym typeface="Calibri"/>
              </a:rPr>
              <a:t>Diseñar, desarrollar y poner en funcionamiento un portal web, que permita a los clientes comprar y pagar online, y a los administradores gestionar el portal.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10455250" y="2827350"/>
            <a:ext cx="7893000" cy="43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Objetivos 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Específicos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: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548DD4"/>
              </a:buClr>
              <a:buSzPts val="3000"/>
              <a:buFont typeface="Calibri"/>
              <a:buChar char="●"/>
            </a:pPr>
            <a:r>
              <a:rPr i="1" lang="es-CL" sz="3000">
                <a:solidFill>
                  <a:srgbClr val="548DD4"/>
                </a:solidFill>
                <a:latin typeface="Calibri"/>
                <a:ea typeface="Calibri"/>
                <a:cs typeface="Calibri"/>
                <a:sym typeface="Calibri"/>
              </a:rPr>
              <a:t>Entregar</a:t>
            </a:r>
            <a:r>
              <a:rPr i="1" lang="es-CL" sz="3000">
                <a:solidFill>
                  <a:srgbClr val="548DD4"/>
                </a:solidFill>
                <a:latin typeface="Calibri"/>
                <a:ea typeface="Calibri"/>
                <a:cs typeface="Calibri"/>
                <a:sym typeface="Calibri"/>
              </a:rPr>
              <a:t> documentación inicial</a:t>
            </a:r>
            <a:endParaRPr i="1" sz="3000">
              <a:solidFill>
                <a:srgbClr val="548DD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548DD4"/>
              </a:buClr>
              <a:buSzPts val="3000"/>
              <a:buFont typeface="Calibri"/>
              <a:buChar char="●"/>
            </a:pPr>
            <a:r>
              <a:rPr i="1" lang="es-CL" sz="3000">
                <a:solidFill>
                  <a:srgbClr val="548DD4"/>
                </a:solidFill>
                <a:latin typeface="Calibri"/>
                <a:ea typeface="Calibri"/>
                <a:cs typeface="Calibri"/>
                <a:sym typeface="Calibri"/>
              </a:rPr>
              <a:t>Diseño y desarrollo de front-end</a:t>
            </a:r>
            <a:endParaRPr i="1" sz="3000">
              <a:solidFill>
                <a:srgbClr val="548DD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548DD4"/>
              </a:buClr>
              <a:buSzPts val="3000"/>
              <a:buFont typeface="Calibri"/>
              <a:buChar char="●"/>
            </a:pPr>
            <a:r>
              <a:rPr i="1" lang="es-CL" sz="3000">
                <a:solidFill>
                  <a:srgbClr val="548DD4"/>
                </a:solidFill>
                <a:latin typeface="Calibri"/>
                <a:ea typeface="Calibri"/>
                <a:cs typeface="Calibri"/>
                <a:sym typeface="Calibri"/>
              </a:rPr>
              <a:t>Implementar BD</a:t>
            </a:r>
            <a:endParaRPr i="1" sz="3000">
              <a:solidFill>
                <a:srgbClr val="548DD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548DD4"/>
              </a:buClr>
              <a:buSzPts val="3000"/>
              <a:buFont typeface="Calibri"/>
              <a:buChar char="●"/>
            </a:pPr>
            <a:r>
              <a:rPr i="1" lang="es-CL" sz="3000">
                <a:solidFill>
                  <a:srgbClr val="548DD4"/>
                </a:solidFill>
                <a:latin typeface="Calibri"/>
                <a:ea typeface="Calibri"/>
                <a:cs typeface="Calibri"/>
                <a:sym typeface="Calibri"/>
              </a:rPr>
              <a:t>Desarrollo back-end</a:t>
            </a:r>
            <a:endParaRPr i="1" sz="3000">
              <a:solidFill>
                <a:srgbClr val="548DD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548DD4"/>
              </a:buClr>
              <a:buSzPts val="3000"/>
              <a:buFont typeface="Calibri"/>
              <a:buChar char="●"/>
            </a:pPr>
            <a:r>
              <a:rPr i="1" lang="es-CL" sz="3000">
                <a:solidFill>
                  <a:srgbClr val="548DD4"/>
                </a:solidFill>
                <a:latin typeface="Calibri"/>
                <a:ea typeface="Calibri"/>
                <a:cs typeface="Calibri"/>
                <a:sym typeface="Calibri"/>
              </a:rPr>
              <a:t>Pruebas y </a:t>
            </a:r>
            <a:r>
              <a:rPr i="1" lang="es-CL" sz="3000">
                <a:solidFill>
                  <a:srgbClr val="548DD4"/>
                </a:solidFill>
                <a:latin typeface="Calibri"/>
                <a:ea typeface="Calibri"/>
                <a:cs typeface="Calibri"/>
                <a:sym typeface="Calibri"/>
              </a:rPr>
              <a:t>corregir</a:t>
            </a:r>
            <a:r>
              <a:rPr i="1" lang="es-CL" sz="3000">
                <a:solidFill>
                  <a:srgbClr val="548DD4"/>
                </a:solidFill>
                <a:latin typeface="Calibri"/>
                <a:ea typeface="Calibri"/>
                <a:cs typeface="Calibri"/>
                <a:sym typeface="Calibri"/>
              </a:rPr>
              <a:t> errores</a:t>
            </a:r>
            <a:endParaRPr i="1" sz="3000">
              <a:solidFill>
                <a:srgbClr val="548DD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548DD4"/>
              </a:buClr>
              <a:buSzPts val="3000"/>
              <a:buFont typeface="Calibri"/>
              <a:buChar char="●"/>
            </a:pPr>
            <a:r>
              <a:rPr i="1" lang="es-CL" sz="3000">
                <a:solidFill>
                  <a:srgbClr val="548DD4"/>
                </a:solidFill>
                <a:latin typeface="Calibri"/>
                <a:ea typeface="Calibri"/>
                <a:cs typeface="Calibri"/>
                <a:sym typeface="Calibri"/>
              </a:rPr>
              <a:t>Desplegar portal en hosting</a:t>
            </a:r>
            <a:endParaRPr sz="3000">
              <a:solidFill>
                <a:srgbClr val="548DD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9aedff59c_0_17"/>
          <p:cNvSpPr txBox="1"/>
          <p:nvPr>
            <p:ph type="title"/>
          </p:nvPr>
        </p:nvSpPr>
        <p:spPr>
          <a:xfrm>
            <a:off x="2432050" y="714594"/>
            <a:ext cx="169884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ALCANCES</a:t>
            </a:r>
            <a:endParaRPr/>
          </a:p>
        </p:txBody>
      </p:sp>
      <p:sp>
        <p:nvSpPr>
          <p:cNvPr id="151" name="Google Shape;151;g399aedff59c_0_17"/>
          <p:cNvSpPr txBox="1"/>
          <p:nvPr/>
        </p:nvSpPr>
        <p:spPr>
          <a:xfrm>
            <a:off x="2549650" y="2372950"/>
            <a:ext cx="11359800" cy="6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latin typeface="Calibri"/>
                <a:ea typeface="Calibri"/>
                <a:cs typeface="Calibri"/>
                <a:sym typeface="Calibri"/>
              </a:rPr>
              <a:t>ALCANCES PROYECTO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Análisis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 de requisitos, modelamiento y 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definición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 de entregables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Diseño y desarrollo de front-end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Implementación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 de BD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Desarrollo de back-end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Capacitación de personal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Despliegue de hosting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latin typeface="Calibri"/>
                <a:ea typeface="Calibri"/>
                <a:cs typeface="Calibri"/>
                <a:sym typeface="Calibri"/>
              </a:rPr>
              <a:t>ALCANCES PRODUCTO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Compra online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 de Productos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 de Usuarios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 de Ventas e Historial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/>
          <p:nvPr>
            <p:ph type="title"/>
          </p:nvPr>
        </p:nvSpPr>
        <p:spPr>
          <a:xfrm>
            <a:off x="222250" y="7407275"/>
            <a:ext cx="10393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6600"/>
              <a:t>METODOLOGÍA</a:t>
            </a:r>
            <a:endParaRPr/>
          </a:p>
        </p:txBody>
      </p:sp>
      <p:sp>
        <p:nvSpPr>
          <p:cNvPr id="157" name="Google Shape;157;p9"/>
          <p:cNvSpPr txBox="1"/>
          <p:nvPr/>
        </p:nvSpPr>
        <p:spPr>
          <a:xfrm>
            <a:off x="9089872" y="6188075"/>
            <a:ext cx="19050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s-CL" sz="96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/>
          <p:nvPr>
            <p:ph type="title"/>
          </p:nvPr>
        </p:nvSpPr>
        <p:spPr>
          <a:xfrm>
            <a:off x="2432050" y="714594"/>
            <a:ext cx="1698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METODOLOGÍA</a:t>
            </a:r>
            <a:endParaRPr/>
          </a:p>
        </p:txBody>
      </p:sp>
      <p:sp>
        <p:nvSpPr>
          <p:cNvPr id="163" name="Google Shape;163;p10"/>
          <p:cNvSpPr txBox="1"/>
          <p:nvPr/>
        </p:nvSpPr>
        <p:spPr>
          <a:xfrm>
            <a:off x="2208850" y="2421900"/>
            <a:ext cx="10484700" cy="26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El desarrollo del portal web de Ferretería Dalmacia se realizará utilizando la metodología ágil Scrum, que permite organizar el trabajo en sprints o ciclos cortos de desarrollo, priorizando entregas parciales de funcionalidades y la mejora continua a partir de la retroalimentación del Product Owner.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 txBox="1"/>
          <p:nvPr/>
        </p:nvSpPr>
        <p:spPr>
          <a:xfrm>
            <a:off x="2326675" y="5330700"/>
            <a:ext cx="10072500" cy="46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Principales Hitos: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Documentación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 inicial 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aprobada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Front-end implementado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Base de datos integrada al portal 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Back-end funcional con integración al front-end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Pruebas completadas y errores corregidos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Portal web desplegado 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en 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hosting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Capacitación realizada y entrega final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9aedff59c_0_0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ROLES Y RESPONSABILIDADES</a:t>
            </a:r>
            <a:endParaRPr/>
          </a:p>
        </p:txBody>
      </p:sp>
      <p:sp>
        <p:nvSpPr>
          <p:cNvPr id="171" name="Google Shape;171;g399aedff59c_0_0"/>
          <p:cNvSpPr txBox="1"/>
          <p:nvPr/>
        </p:nvSpPr>
        <p:spPr>
          <a:xfrm>
            <a:off x="1792325" y="2271975"/>
            <a:ext cx="11662800" cy="57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SCRUM MASTER: Javier Gonzalez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s-CL" sz="2400">
                <a:latin typeface="Calibri"/>
                <a:ea typeface="Calibri"/>
                <a:cs typeface="Calibri"/>
                <a:sym typeface="Calibri"/>
              </a:rPr>
              <a:t>Insentiva la mejora del equipo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s-CL" sz="2400">
                <a:latin typeface="Calibri"/>
                <a:ea typeface="Calibri"/>
                <a:cs typeface="Calibri"/>
                <a:sym typeface="Calibri"/>
              </a:rPr>
              <a:t>Fomenta el trabajo grupal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s-CL" sz="2400">
                <a:latin typeface="Calibri"/>
                <a:ea typeface="Calibri"/>
                <a:cs typeface="Calibri"/>
                <a:sym typeface="Calibri"/>
              </a:rPr>
              <a:t>Asegura </a:t>
            </a:r>
            <a:r>
              <a:rPr lang="es-CL" sz="2400">
                <a:latin typeface="Calibri"/>
                <a:ea typeface="Calibri"/>
                <a:cs typeface="Calibri"/>
                <a:sym typeface="Calibri"/>
              </a:rPr>
              <a:t>aplicación</a:t>
            </a:r>
            <a:r>
              <a:rPr lang="es-CL" sz="2400">
                <a:latin typeface="Calibri"/>
                <a:ea typeface="Calibri"/>
                <a:cs typeface="Calibri"/>
                <a:sym typeface="Calibri"/>
              </a:rPr>
              <a:t> de scrum en proyecto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PRODUCT OWNER: 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Francisco Valdiviezo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s-CL" sz="2400">
                <a:latin typeface="Calibri"/>
                <a:ea typeface="Calibri"/>
                <a:cs typeface="Calibri"/>
                <a:sym typeface="Calibri"/>
              </a:rPr>
              <a:t>Define la visión del proyecto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s-CL" sz="2400">
                <a:latin typeface="Calibri"/>
                <a:ea typeface="Calibri"/>
                <a:cs typeface="Calibri"/>
                <a:sym typeface="Calibri"/>
              </a:rPr>
              <a:t>Asegura el correcto entendimiento de los requisitos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s-CL" sz="2400">
                <a:latin typeface="Calibri"/>
                <a:ea typeface="Calibri"/>
                <a:cs typeface="Calibri"/>
                <a:sym typeface="Calibri"/>
              </a:rPr>
              <a:t>Acepta o rechaza los entregables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/>
          <p:nvPr/>
        </p:nvSpPr>
        <p:spPr>
          <a:xfrm>
            <a:off x="6276975" y="7752358"/>
            <a:ext cx="167095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s-CL" sz="9600" u="none" cap="none" strike="noStrike">
                <a:solidFill>
                  <a:srgbClr val="257CE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1"/>
          <p:cNvSpPr txBox="1"/>
          <p:nvPr>
            <p:ph type="title"/>
          </p:nvPr>
        </p:nvSpPr>
        <p:spPr>
          <a:xfrm>
            <a:off x="6276975" y="9060775"/>
            <a:ext cx="902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6600"/>
              <a:t>PROPUESTA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9aedff59c_0_6"/>
          <p:cNvSpPr txBox="1"/>
          <p:nvPr>
            <p:ph type="title"/>
          </p:nvPr>
        </p:nvSpPr>
        <p:spPr>
          <a:xfrm>
            <a:off x="2432050" y="714594"/>
            <a:ext cx="169884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MODELO POR CAPAS</a:t>
            </a:r>
            <a:endParaRPr/>
          </a:p>
        </p:txBody>
      </p:sp>
      <p:pic>
        <p:nvPicPr>
          <p:cNvPr id="184" name="Google Shape;184;g399aedff59c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8775" y="1807854"/>
            <a:ext cx="6352900" cy="850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CASO DE USO GENERAL</a:t>
            </a:r>
            <a:endParaRPr/>
          </a:p>
        </p:txBody>
      </p:sp>
      <p:pic>
        <p:nvPicPr>
          <p:cNvPr id="190" name="Google Shape;190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6450" y="2442151"/>
            <a:ext cx="11687075" cy="681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005102e78_2_6"/>
          <p:cNvSpPr txBox="1"/>
          <p:nvPr>
            <p:ph type="title"/>
          </p:nvPr>
        </p:nvSpPr>
        <p:spPr>
          <a:xfrm>
            <a:off x="2432050" y="714594"/>
            <a:ext cx="169884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DIAGRAMA DE CLASES Y MER</a:t>
            </a:r>
            <a:endParaRPr/>
          </a:p>
        </p:txBody>
      </p:sp>
      <p:pic>
        <p:nvPicPr>
          <p:cNvPr id="197" name="Google Shape;197;g37005102e78_2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2550" y="2453369"/>
            <a:ext cx="8239125" cy="578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7005102e78_2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9725" y="2458132"/>
            <a:ext cx="9067800" cy="577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7005102e78_2_11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DIAGRAMA DE ACTIVIDAD PRINCIPAL</a:t>
            </a:r>
            <a:endParaRPr/>
          </a:p>
        </p:txBody>
      </p:sp>
      <p:pic>
        <p:nvPicPr>
          <p:cNvPr id="205" name="Google Shape;205;g37005102e78_2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5850" y="1705283"/>
            <a:ext cx="3882450" cy="789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7005102e78_2_35"/>
          <p:cNvSpPr txBox="1"/>
          <p:nvPr>
            <p:ph type="title"/>
          </p:nvPr>
        </p:nvSpPr>
        <p:spPr>
          <a:xfrm>
            <a:off x="2432050" y="714594"/>
            <a:ext cx="169884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BPMN TO-BE</a:t>
            </a:r>
            <a:endParaRPr/>
          </a:p>
        </p:txBody>
      </p:sp>
      <p:pic>
        <p:nvPicPr>
          <p:cNvPr id="212" name="Google Shape;212;g37005102e78_2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0700" y="2312732"/>
            <a:ext cx="16472974" cy="62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7005102e78_2_21"/>
          <p:cNvSpPr txBox="1"/>
          <p:nvPr>
            <p:ph type="title"/>
          </p:nvPr>
        </p:nvSpPr>
        <p:spPr>
          <a:xfrm>
            <a:off x="2432050" y="714594"/>
            <a:ext cx="169884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FRONT-END</a:t>
            </a:r>
            <a:endParaRPr/>
          </a:p>
        </p:txBody>
      </p:sp>
      <p:pic>
        <p:nvPicPr>
          <p:cNvPr id="219" name="Google Shape;219;g37005102e78_2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4000" y="1737623"/>
            <a:ext cx="8241726" cy="307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g37005102e78_2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4000" y="4810100"/>
            <a:ext cx="8241723" cy="300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g37005102e78_2_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32050" y="7814304"/>
            <a:ext cx="8023673" cy="3413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7005102e78_2_26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PRUEBAS</a:t>
            </a:r>
            <a:endParaRPr/>
          </a:p>
        </p:txBody>
      </p:sp>
      <p:pic>
        <p:nvPicPr>
          <p:cNvPr id="228" name="Google Shape;228;g37005102e78_2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600" y="1999573"/>
            <a:ext cx="16484774" cy="514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7005102e78_2_26"/>
          <p:cNvSpPr txBox="1"/>
          <p:nvPr/>
        </p:nvSpPr>
        <p:spPr>
          <a:xfrm>
            <a:off x="3761350" y="9996650"/>
            <a:ext cx="102996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https://docs.google.com/spreadsheets/d/1qePrE_Kzg8LD-lVe0Kq9IF5hjWvSYGQr2qZrMg36SJE/edit?gid=1415582702#gid=1415582702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"/>
          <p:cNvSpPr txBox="1"/>
          <p:nvPr/>
        </p:nvSpPr>
        <p:spPr>
          <a:xfrm>
            <a:off x="4718050" y="4177347"/>
            <a:ext cx="19050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s-CL" sz="9600" u="none" cap="none" strike="noStrike">
                <a:solidFill>
                  <a:srgbClr val="257CE1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3"/>
          <p:cNvSpPr txBox="1"/>
          <p:nvPr>
            <p:ph type="title"/>
          </p:nvPr>
        </p:nvSpPr>
        <p:spPr>
          <a:xfrm>
            <a:off x="4718050" y="5393825"/>
            <a:ext cx="902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6600"/>
              <a:t>TECNOLOGÍAS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"/>
          <p:cNvSpPr txBox="1"/>
          <p:nvPr>
            <p:ph type="title"/>
          </p:nvPr>
        </p:nvSpPr>
        <p:spPr>
          <a:xfrm>
            <a:off x="2432050" y="714594"/>
            <a:ext cx="1698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TECNOLOGÍAS</a:t>
            </a:r>
            <a:r>
              <a:rPr lang="es-CL"/>
              <a:t> UTILIZADAS</a:t>
            </a:r>
            <a:endParaRPr/>
          </a:p>
        </p:txBody>
      </p:sp>
      <p:sp>
        <p:nvSpPr>
          <p:cNvPr id="241" name="Google Shape;241;p14"/>
          <p:cNvSpPr txBox="1"/>
          <p:nvPr/>
        </p:nvSpPr>
        <p:spPr>
          <a:xfrm>
            <a:off x="2432050" y="2382275"/>
            <a:ext cx="10164900" cy="72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s-CL" sz="3000">
                <a:solidFill>
                  <a:schemeClr val="dk1"/>
                </a:solidFill>
              </a:rPr>
              <a:t>HTML5, CSS3 y Bootstrap 5:</a:t>
            </a:r>
            <a:r>
              <a:rPr lang="es-CL" sz="3000">
                <a:solidFill>
                  <a:schemeClr val="dk1"/>
                </a:solidFill>
              </a:rPr>
              <a:t> permiten crear interfaces intuitivas y adaptables a distintos dispositivos.</a:t>
            </a: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s-CL" sz="3000">
                <a:solidFill>
                  <a:schemeClr val="dk1"/>
                </a:solidFill>
              </a:rPr>
              <a:t>JavaScript 2022 y Node.js 20.16: </a:t>
            </a:r>
            <a:r>
              <a:rPr lang="es-CL" sz="3000">
                <a:solidFill>
                  <a:schemeClr val="dk1"/>
                </a:solidFill>
              </a:rPr>
              <a:t> facilitan el desarrollo del back-end sin necesidad de múltiples lenguajes, asegurando consistencia en el código.</a:t>
            </a: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s-CL" sz="3000">
                <a:solidFill>
                  <a:schemeClr val="dk1"/>
                </a:solidFill>
              </a:rPr>
              <a:t>MySQL 8</a:t>
            </a:r>
            <a:r>
              <a:rPr lang="es-CL" sz="3000">
                <a:solidFill>
                  <a:schemeClr val="dk1"/>
                </a:solidFill>
              </a:rPr>
              <a:t>: base de datos relacional robusta y ampliamente utilizada en aplicaciones comerciales, ideal para manejar usuarios, productos y ventas.</a:t>
            </a: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s-CL" sz="3000">
                <a:solidFill>
                  <a:schemeClr val="dk1"/>
                </a:solidFill>
              </a:rPr>
              <a:t>Visual Studio Code</a:t>
            </a:r>
            <a:r>
              <a:rPr lang="es-CL" sz="3000">
                <a:solidFill>
                  <a:schemeClr val="dk1"/>
                </a:solidFill>
              </a:rPr>
              <a:t> </a:t>
            </a:r>
            <a:r>
              <a:rPr b="1" lang="es-CL" sz="3000">
                <a:solidFill>
                  <a:schemeClr val="dk1"/>
                </a:solidFill>
              </a:rPr>
              <a:t>y Xampp 3.3</a:t>
            </a:r>
            <a:r>
              <a:rPr lang="es-CL" sz="3000">
                <a:solidFill>
                  <a:schemeClr val="dk1"/>
                </a:solidFill>
              </a:rPr>
              <a:t>: ofrece integración con herramientas de depuración, mientras que xampp permite ejecutar localmente MYSQL y administrar la base de datos.</a:t>
            </a: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s-CL" sz="3000">
                <a:solidFill>
                  <a:schemeClr val="dk1"/>
                </a:solidFill>
              </a:rPr>
              <a:t>HostGator</a:t>
            </a:r>
            <a:r>
              <a:rPr lang="es-CL" sz="3000">
                <a:solidFill>
                  <a:schemeClr val="dk1"/>
                </a:solidFill>
              </a:rPr>
              <a:t>: garantiza un entorno de despliegue seguro y confiable cuando el portal esté en línea.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7005102e78_2_49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FACTIBILIDAD </a:t>
            </a:r>
            <a:r>
              <a:rPr lang="es-CL"/>
              <a:t>OPERACIONAL</a:t>
            </a:r>
            <a:r>
              <a:rPr lang="es-CL"/>
              <a:t> Y LEGAL</a:t>
            </a:r>
            <a:endParaRPr/>
          </a:p>
        </p:txBody>
      </p:sp>
      <p:sp>
        <p:nvSpPr>
          <p:cNvPr id="248" name="Google Shape;248;g37005102e78_2_49"/>
          <p:cNvSpPr txBox="1"/>
          <p:nvPr/>
        </p:nvSpPr>
        <p:spPr>
          <a:xfrm>
            <a:off x="2297200" y="2444475"/>
            <a:ext cx="11385000" cy="6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Lo principal a tener en cuenta 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serían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: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rotección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 de datos personales:  Ley 19.628. asegurando la 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protección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 de los datos de la vida privada del cliente.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Seguridad de la información: 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○"/>
            </a:pPr>
            <a:r>
              <a:rPr b="1" lang="es-CL" sz="3000">
                <a:latin typeface="Calibri"/>
                <a:ea typeface="Calibri"/>
                <a:cs typeface="Calibri"/>
                <a:sym typeface="Calibri"/>
              </a:rPr>
              <a:t>ISO/IEC 27001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 Sistema de Gestión de Seguridad de la Información (SGSI). Establece los requisitos para proteger la información sensible.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Normativas de comercio 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electrónico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: 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○"/>
            </a:pPr>
            <a:r>
              <a:rPr b="1" lang="es-CL" sz="3000">
                <a:latin typeface="Calibri"/>
                <a:ea typeface="Calibri"/>
                <a:cs typeface="Calibri"/>
                <a:sym typeface="Calibri"/>
              </a:rPr>
              <a:t>ISO 20488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 Buenas prácticas para reseñas en línea y confianza en plataformas de comercio electrónico.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"/>
          <p:cNvSpPr txBox="1"/>
          <p:nvPr/>
        </p:nvSpPr>
        <p:spPr>
          <a:xfrm>
            <a:off x="7461250" y="7225347"/>
            <a:ext cx="19050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s-CL" sz="9600" u="none" cap="none" strike="noStrike">
                <a:solidFill>
                  <a:srgbClr val="257CE1"/>
                </a:solidFill>
                <a:latin typeface="Arial Black"/>
                <a:ea typeface="Arial Black"/>
                <a:cs typeface="Arial Black"/>
                <a:sym typeface="Arial Black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5"/>
          <p:cNvSpPr txBox="1"/>
          <p:nvPr>
            <p:ph type="title"/>
          </p:nvPr>
        </p:nvSpPr>
        <p:spPr>
          <a:xfrm>
            <a:off x="7461250" y="8545125"/>
            <a:ext cx="9485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6600"/>
              <a:t>ETAPAS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6"/>
          <p:cNvSpPr txBox="1"/>
          <p:nvPr>
            <p:ph type="title"/>
          </p:nvPr>
        </p:nvSpPr>
        <p:spPr>
          <a:xfrm>
            <a:off x="2432050" y="714594"/>
            <a:ext cx="169884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ROADMAP</a:t>
            </a:r>
            <a:endParaRPr/>
          </a:p>
        </p:txBody>
      </p:sp>
      <p:pic>
        <p:nvPicPr>
          <p:cNvPr id="260" name="Google Shape;26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475" y="2044481"/>
            <a:ext cx="19040626" cy="7688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6"/>
          <p:cNvSpPr txBox="1"/>
          <p:nvPr/>
        </p:nvSpPr>
        <p:spPr>
          <a:xfrm>
            <a:off x="555375" y="10323475"/>
            <a:ext cx="124452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https://docs.google.com/spreadsheets/d/1AWZ5WSeCTNWBWKSVNj7j_8SfVfjcBopZ/edit?gid=1444610832#gid=1444610832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7005102e78_2_55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RACI</a:t>
            </a:r>
            <a:endParaRPr/>
          </a:p>
        </p:txBody>
      </p:sp>
      <p:sp>
        <p:nvSpPr>
          <p:cNvPr id="268" name="Google Shape;268;g37005102e78_2_55"/>
          <p:cNvSpPr txBox="1"/>
          <p:nvPr/>
        </p:nvSpPr>
        <p:spPr>
          <a:xfrm>
            <a:off x="10122875" y="9996650"/>
            <a:ext cx="8835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https://docs.google.com/spreadsheets/d/1sTgpIoTj0jSHGGUp_5B5SmrD7uapa6uq/edit?gid=1845753831#gid=1845753831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g37005102e78_2_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3825" y="2454546"/>
            <a:ext cx="14479301" cy="50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99aedff59c_0_11"/>
          <p:cNvSpPr txBox="1"/>
          <p:nvPr>
            <p:ph type="title"/>
          </p:nvPr>
        </p:nvSpPr>
        <p:spPr>
          <a:xfrm>
            <a:off x="2432050" y="714594"/>
            <a:ext cx="169884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GITHUB</a:t>
            </a:r>
            <a:endParaRPr/>
          </a:p>
        </p:txBody>
      </p:sp>
      <p:sp>
        <p:nvSpPr>
          <p:cNvPr id="276" name="Google Shape;276;g399aedff59c_0_11"/>
          <p:cNvSpPr txBox="1"/>
          <p:nvPr/>
        </p:nvSpPr>
        <p:spPr>
          <a:xfrm>
            <a:off x="1792325" y="9946175"/>
            <a:ext cx="780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https://github.com/Javiagonzalezv/2025_MA_CAPSTONE_704D_GRUPO_9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g399aedff59c_0_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2050" y="1883601"/>
            <a:ext cx="11124026" cy="7124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7367810f2be5ba91_0"/>
          <p:cNvSpPr txBox="1"/>
          <p:nvPr/>
        </p:nvSpPr>
        <p:spPr>
          <a:xfrm>
            <a:off x="805225" y="6253447"/>
            <a:ext cx="19050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s-CL" sz="9600" u="none" cap="none" strike="noStrike">
                <a:solidFill>
                  <a:srgbClr val="257CE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s-CL" sz="9600">
                <a:solidFill>
                  <a:srgbClr val="257CE1"/>
                </a:solidFill>
                <a:latin typeface="Arial Black"/>
                <a:ea typeface="Arial Black"/>
                <a:cs typeface="Arial Black"/>
                <a:sym typeface="Arial Black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7367810f2be5ba91_0"/>
          <p:cNvSpPr txBox="1"/>
          <p:nvPr>
            <p:ph type="title"/>
          </p:nvPr>
        </p:nvSpPr>
        <p:spPr>
          <a:xfrm>
            <a:off x="805225" y="7425975"/>
            <a:ext cx="902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6600"/>
              <a:t>SOLUCIÓN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a1187e7452_0_2"/>
          <p:cNvSpPr txBox="1"/>
          <p:nvPr>
            <p:ph type="title"/>
          </p:nvPr>
        </p:nvSpPr>
        <p:spPr>
          <a:xfrm>
            <a:off x="2432050" y="714594"/>
            <a:ext cx="169884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MUESTRA DE </a:t>
            </a:r>
            <a:r>
              <a:rPr lang="es-CL"/>
              <a:t>SOLUCIÓN</a:t>
            </a:r>
            <a:endParaRPr/>
          </a:p>
        </p:txBody>
      </p:sp>
      <p:sp>
        <p:nvSpPr>
          <p:cNvPr id="291" name="Google Shape;291;g3a1187e7452_0_2"/>
          <p:cNvSpPr txBox="1"/>
          <p:nvPr/>
        </p:nvSpPr>
        <p:spPr>
          <a:xfrm>
            <a:off x="2920825" y="10274350"/>
            <a:ext cx="83379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https://drive.google.com/drive/u/1/folders/1lI_O87Q8vKcfLA7Gy47fLnOBM4qBHv4X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g3a1187e7452_0_2" title="Dalmacia - Google Chrome 2025-11-17 23-46-36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32050" y="1858594"/>
            <a:ext cx="13106400" cy="701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1187e7452_0_7"/>
          <p:cNvSpPr txBox="1"/>
          <p:nvPr/>
        </p:nvSpPr>
        <p:spPr>
          <a:xfrm>
            <a:off x="7196175" y="7195897"/>
            <a:ext cx="19050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s-CL" sz="9600" u="none" cap="none" strike="noStrike">
                <a:solidFill>
                  <a:srgbClr val="257CE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s-CL" sz="9600">
                <a:solidFill>
                  <a:srgbClr val="257CE1"/>
                </a:solidFill>
                <a:latin typeface="Arial Black"/>
                <a:ea typeface="Arial Black"/>
                <a:cs typeface="Arial Black"/>
                <a:sym typeface="Arial Black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a1187e7452_0_7"/>
          <p:cNvSpPr txBox="1"/>
          <p:nvPr>
            <p:ph type="title"/>
          </p:nvPr>
        </p:nvSpPr>
        <p:spPr>
          <a:xfrm>
            <a:off x="7196175" y="8397875"/>
            <a:ext cx="902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6600"/>
              <a:t>RETROSPECTIVA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a1187e7452_0_12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RETROSPECTIVA</a:t>
            </a:r>
            <a:endParaRPr/>
          </a:p>
        </p:txBody>
      </p:sp>
      <p:sp>
        <p:nvSpPr>
          <p:cNvPr id="306" name="Google Shape;306;g3a1187e7452_0_12"/>
          <p:cNvSpPr txBox="1"/>
          <p:nvPr/>
        </p:nvSpPr>
        <p:spPr>
          <a:xfrm>
            <a:off x="1826000" y="2650625"/>
            <a:ext cx="9807300" cy="53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Durante este proyecto puse en práctica mis competencias profesionales para d</a:t>
            </a:r>
            <a:r>
              <a:rPr b="1" lang="es-CL" sz="3000">
                <a:latin typeface="Calibri"/>
                <a:ea typeface="Calibri"/>
                <a:cs typeface="Calibri"/>
                <a:sym typeface="Calibri"/>
              </a:rPr>
              <a:t>iseñar una solución de software 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basada en las necesidades del cliente. Tuve dificultades con la i</a:t>
            </a:r>
            <a:r>
              <a:rPr b="1" lang="es-CL" sz="3000">
                <a:latin typeface="Calibri"/>
                <a:ea typeface="Calibri"/>
                <a:cs typeface="Calibri"/>
                <a:sym typeface="Calibri"/>
              </a:rPr>
              <a:t>mplementación de la base de datos 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y se hubo que cambiar algunas 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tecnologías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, pero esto me permitió aplicar habilidades de </a:t>
            </a:r>
            <a:r>
              <a:rPr b="1" lang="es-CL" sz="3000">
                <a:latin typeface="Calibri"/>
                <a:ea typeface="Calibri"/>
                <a:cs typeface="Calibri"/>
                <a:sym typeface="Calibri"/>
              </a:rPr>
              <a:t>análisis, adaptación y mejora continua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Solo queda el historial del usuario, </a:t>
            </a:r>
            <a:r>
              <a:rPr b="1" lang="es-CL" sz="3000">
                <a:latin typeface="Calibri"/>
                <a:ea typeface="Calibri"/>
                <a:cs typeface="Calibri"/>
                <a:sym typeface="Calibri"/>
              </a:rPr>
              <a:t>aplicar las pruebas finales 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y desplegar el portal, para asegurar la calidad del proyecto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1187e7452_0_20"/>
          <p:cNvSpPr txBox="1"/>
          <p:nvPr>
            <p:ph type="title"/>
          </p:nvPr>
        </p:nvSpPr>
        <p:spPr>
          <a:xfrm>
            <a:off x="6623050" y="7026275"/>
            <a:ext cx="9782100" cy="7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Gracias por ver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2022-07-20T19:15:37Z</dcterms:created>
  <dc:creator>Daniela Taito R.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2022-07-20T00:00:00Z</vt:filetime>
  </property>
  <property fmtid="{D5CDD505-2E9C-101B-9397-08002B2CF9AE}" pid="3" name="Creator">
    <vt:lpwstr>Adobe Illustrator 26.3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2022-07-20T00:00:00Z</vt:filetime>
  </property>
  <property fmtid="{D5CDD505-2E9C-101B-9397-08002B2CF9AE}" pid="6" name="Producer">
    <vt:lpwstr>Adobe PDF library 15.00</vt:lpwstr>
  </property>
  <property fmtid="{D5CDD505-2E9C-101B-9397-08002B2CF9AE}" pid="7" name="ContentTypeId">
    <vt:lpwstr>0x010100018D87CEFA56DA42BF8E9E6D1D515907</vt:lpwstr>
  </property>
</Properties>
</file>